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pitch. Introduce the concept of Helix Reader as a cognitive optimizer designed to transform screen reading from passive scrolling to high-efficiency active recall.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reading problem. Judges love data points like the Ebbinghaus Forgetting Curve and F-pattern scanning.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visual reader, interactive vocabulary, and telemetry-focused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the market and social impact: academic speeds, retention gains, and accessibility aids.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 look for engagement hooks. Explain how gamification turns study time into an addictive, positive streak.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with high-value future venture ideas. Judges love scalable B2B platforms and AI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5935" cy="649224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noFill/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800"/>
              </a:spcAft>
              <a:defRPr sz="1600" b="1">
                <a:solidFill>
                  <a:srgbClr val="D4AF37"/>
                </a:solidFill>
                <a:latin typeface="Helvetica"/>
              </a:defRPr>
            </a:pPr>
            <a:r>
              <a:t>H E L I X   R E A D E R</a:t>
            </a:r>
          </a:p>
          <a:p>
            <a:pPr algn="ctr">
              <a:spcAft>
                <a:spcPts val="1400"/>
              </a:spcAft>
              <a:defRPr sz="4600" b="1">
                <a:solidFill>
                  <a:srgbClr val="F3F4F6"/>
                </a:solidFill>
                <a:latin typeface="Helvetica"/>
              </a:defRPr>
            </a:pPr>
            <a:r>
              <a:t>Cognitive Pacing &amp; Active Retention</a:t>
            </a:r>
          </a:p>
          <a:p>
            <a:pPr algn="ctr">
              <a:defRPr sz="1600">
                <a:solidFill>
                  <a:srgbClr val="00F2FE"/>
                </a:solidFill>
                <a:latin typeface="Helvetica"/>
              </a:defRPr>
            </a:pPr>
            <a:r>
              <a:t>Reinventing how we absorb knowledge from digital screens by merging visual pacing with active recall hooks.</a:t>
            </a:r>
          </a:p>
          <a:p>
            <a:pPr algn="ctr">
              <a:spcBef>
                <a:spcPts val="2400"/>
              </a:spcBef>
              <a:defRPr sz="1300" b="1">
                <a:solidFill>
                  <a:srgbClr val="D4AF37"/>
                </a:solidFill>
                <a:latin typeface="Helvetica"/>
              </a:defRPr>
            </a:pPr>
            <a:r>
              <a:t>GitHub Repository: github.com/hardik-arora/helix-reader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82296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Helvetica"/>
              </a:defRPr>
            </a:pPr>
            <a:r>
              <a:t>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Helvetica"/>
              </a:defRPr>
            </a:pPr>
            <a:r>
              <a:t>The Digital Reading Crisis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BE5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DC6E64"/>
                </a:solidFill>
                <a:latin typeface="Helvetica"/>
              </a:defRPr>
            </a:pPr>
            <a:r>
              <a:t>THE FRICTION POINTS</a:t>
            </a:r>
          </a:p>
          <a:p>
            <a:pPr>
              <a:spcAft>
                <a:spcPts val="24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• The Skimming Epidemic: Over 70% of readers scan pages in an F-pattern, missing up to 50% of the core content. This superficial processing blocks semantic recall.</a:t>
            </a:r>
          </a:p>
          <a:p>
            <a:pPr>
              <a:spcAft>
                <a:spcPts val="24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• The Retention Leak: According to the forgetting curve, 80% of newly read vocabulary and information is lost within 24 hours without immediate reinforcement logs.</a:t>
            </a:r>
          </a:p>
          <a:p>
            <a:pPr>
              <a:spcAft>
                <a:spcPts val="24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• Passive Layout Fatigue: Screens encourage mindless vertical scrolling, reducing linear attention spans and visual focus.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500" b="1">
                <a:solidFill>
                  <a:srgbClr val="00F2FE"/>
                </a:solidFill>
                <a:latin typeface="Helvetica"/>
              </a:defRPr>
            </a:pPr>
            <a:r>
              <a:t>THE HELIX SYSTEM</a:t>
            </a:r>
          </a:p>
          <a:p>
            <a:pPr>
              <a:spcAft>
                <a:spcPts val="24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• Visual Pacing: Guided focus lines anchor the eyes, eliminating random skipping and accelerating pace systematically.</a:t>
            </a:r>
          </a:p>
          <a:p>
            <a:pPr>
              <a:spcAft>
                <a:spcPts val="24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• Active Capture Hooks: Interactive, low-friction vocabulary logging intercepts the forgetting loop immediately, saving terms inline.</a:t>
            </a:r>
          </a:p>
          <a:p>
            <a:pPr>
              <a:spcAft>
                <a:spcPts val="24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• Multi-Sensory Alignment: Synergizing speed-controlled audio narration with visual highlights to maximize retention curves.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82296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Helvetica"/>
              </a:defRPr>
            </a:pPr>
            <a:r>
              <a:t>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Helvetica"/>
              </a:defRPr>
            </a:pPr>
            <a:r>
              <a:t>The Product Pillars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F37"/>
                </a:solidFill>
                <a:latin typeface="Helvetica"/>
              </a:defRPr>
            </a:pPr>
            <a:r>
              <a:t>01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1900" b="1">
                <a:solidFill>
                  <a:srgbClr val="F3F4F6"/>
                </a:solidFill>
                <a:latin typeface="Helvetica"/>
              </a:defRPr>
            </a:pPr>
            <a:r>
              <a:t>Guided Reading Guide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Paces the reader through customizable margins and guided guide bars.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Reduces eye-regression, helping readers absorb blocks of text systematically.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Ideal for long papers, textbook sheets, and dense documentation.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F37"/>
                </a:solidFill>
                <a:latin typeface="Helvetica"/>
              </a:defRPr>
            </a:pPr>
            <a:r>
              <a:t>02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1900" b="1">
                <a:solidFill>
                  <a:srgbClr val="F3F4F6"/>
                </a:solidFill>
                <a:latin typeface="Helvetica"/>
              </a:defRPr>
            </a:pPr>
            <a:r>
              <a:t>Active Vocabulary Deck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Replaces standard lookup tabs. Double-click to instantly map definitions inline.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Caches cards automatically into active review flashcard collections.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Transforms words from passive recognition to active usage.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D4AF37"/>
                </a:solidFill>
                <a:latin typeface="Helvetica"/>
              </a:defRPr>
            </a:pPr>
            <a:r>
              <a:t>03</a:t>
            </a:r>
          </a:p>
          <a:p>
            <a:pPr>
              <a:spcBef>
                <a:spcPts val="1000"/>
              </a:spcBef>
              <a:spcAft>
                <a:spcPts val="2000"/>
              </a:spcAft>
              <a:defRPr sz="1900" b="1">
                <a:solidFill>
                  <a:srgbClr val="F3F4F6"/>
                </a:solidFill>
                <a:latin typeface="Helvetica"/>
              </a:defRPr>
            </a:pPr>
            <a:r>
              <a:t>Context Library Hub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A customized personal catalog for documents, papers, and EPUB files.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Keeps a comprehensive visual log of page completions.</a:t>
            </a:r>
          </a:p>
          <a:p>
            <a:pPr>
              <a:spcAft>
                <a:spcPts val="1600"/>
              </a:spcAft>
              <a:defRPr sz="1300">
                <a:solidFill>
                  <a:srgbClr val="F3F4F6"/>
                </a:solidFill>
                <a:latin typeface="Helvetica"/>
              </a:defRPr>
            </a:pPr>
            <a:r>
              <a:t>• Calculates telemetry reading speeds in real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82296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Helvetica"/>
              </a:defRPr>
            </a:pPr>
            <a:r>
              <a:t>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Helvetica"/>
              </a:defRPr>
            </a:pPr>
            <a:r>
              <a:t>Target Market &amp; Social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3F4F6"/>
                </a:solidFill>
                <a:latin typeface="Helvetica"/>
              </a:defRPr>
            </a:pPr>
            <a:r>
              <a:t>Solving for Diverse Learners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Academic &amp; Researchers: Accelerating data analysis schedules by helping them parse papers and documentation efficiently.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Neurodivergent Accessibility: Providing dyslexia-friendly fonts, focus guides, and adjustable speed pacing for readers with ADHD.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Life-Long Learners: Helping professionals consume newsletters, industry books, and learning logs systematically.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2377440" cy="2103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2FE"/>
                </a:solidFill>
                <a:latin typeface="Helvetica"/>
              </a:defRPr>
            </a:pPr>
            <a:r>
              <a:t>2.5x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Reading Speed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0" y="1645920"/>
            <a:ext cx="2377440" cy="2103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0" y="1920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2FE"/>
                </a:solidFill>
                <a:latin typeface="Helvetica"/>
              </a:defRPr>
            </a:pPr>
            <a:r>
              <a:t>80%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Recall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931920"/>
            <a:ext cx="2377440" cy="2103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4206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2FE"/>
                </a:solidFill>
                <a:latin typeface="Helvetica"/>
              </a:defRPr>
            </a:pPr>
            <a:r>
              <a:t>ADHD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Focus Pacing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0" y="3931920"/>
            <a:ext cx="2377440" cy="2103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4206240"/>
            <a:ext cx="2194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F2FE"/>
                </a:solidFill>
                <a:latin typeface="Helvetica"/>
              </a:defRPr>
            </a:pPr>
            <a:r>
              <a:t>Global</a:t>
            </a:r>
          </a:p>
          <a:p>
            <a:pPr algn="ctr">
              <a:spcBef>
                <a:spcPts val="1000"/>
              </a:spcBef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Book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82296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Helvetica"/>
              </a:defRPr>
            </a:pPr>
            <a:r>
              <a:t>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Helvetica"/>
              </a:defRPr>
            </a:pPr>
            <a:r>
              <a:t>The Habit Loop &amp; Gamification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3F4F6"/>
                </a:solidFill>
                <a:latin typeface="Helvetica"/>
              </a:defRPr>
            </a:pPr>
            <a:r>
              <a:t>Hooking User Consistency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Reading XP loops: Rewarding experience points dynamically based on page time to unlock consistent learning streaks.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Milestone Badges: Creating visual achievements that track learning patterns (e.g. Scholar, Marathon Reader).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Daily Pacing Streaks: Visual feedback dashboards that keep users motivated to maintain daily reading streaks.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1300" b="1">
                <a:solidFill>
                  <a:srgbClr val="D4AF37"/>
                </a:solidFill>
                <a:latin typeface="Helvetica"/>
              </a:defRPr>
            </a:pPr>
            <a:r>
              <a:t>THE BEHAVIORAL DASHBOARD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🏆 LEVEL 4 MASTER READER</a:t>
            </a:r>
          </a:p>
          <a:p>
            <a:pPr>
              <a:spcAft>
                <a:spcPts val="1600"/>
              </a:spcAft>
              <a:defRPr sz="1400" b="0">
                <a:solidFill>
                  <a:srgbClr val="00F2FE"/>
                </a:solidFill>
                <a:latin typeface="Helvetica"/>
              </a:defRPr>
            </a:pPr>
            <a:r>
              <a:t>└─ Current Progress: 4,250 XP (Reward Loops Active)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⚡ SPEED VELOCITY</a:t>
            </a:r>
          </a:p>
          <a:p>
            <a:pPr>
              <a:spcAft>
                <a:spcPts val="1600"/>
              </a:spcAft>
              <a:defRPr sz="1400" b="0">
                <a:solidFill>
                  <a:srgbClr val="00F2FE"/>
                </a:solidFill>
                <a:latin typeface="Helvetica"/>
              </a:defRPr>
            </a:pPr>
            <a:r>
              <a:t>└─ Live velocity indicators tracking WPM speeds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📚 VOCABULARY DECKS</a:t>
            </a:r>
          </a:p>
          <a:p>
            <a:pPr>
              <a:spcAft>
                <a:spcPts val="1600"/>
              </a:spcAft>
              <a:defRPr sz="1400" b="0">
                <a:solidFill>
                  <a:srgbClr val="00F2FE"/>
                </a:solidFill>
                <a:latin typeface="Helvetica"/>
              </a:defRPr>
            </a:pPr>
            <a:r>
              <a:t>└─ Logs cards, translations, and flashcard recall scores</a:t>
            </a:r>
          </a:p>
          <a:p>
            <a:pPr>
              <a:spcAft>
                <a:spcPts val="1600"/>
              </a:spcAft>
              <a:defRPr sz="1400" b="1">
                <a:solidFill>
                  <a:srgbClr val="F3F4F6"/>
                </a:solidFill>
                <a:latin typeface="Helvetica"/>
              </a:defRPr>
            </a:pPr>
            <a:r>
              <a:t>🏅 CREDENTIAL BADGES</a:t>
            </a:r>
          </a:p>
          <a:p>
            <a:pPr>
              <a:spcAft>
                <a:spcPts val="1600"/>
              </a:spcAft>
              <a:defRPr sz="1400" b="0">
                <a:solidFill>
                  <a:srgbClr val="00F2FE"/>
                </a:solidFill>
                <a:latin typeface="Helvetica"/>
              </a:defRPr>
            </a:pPr>
            <a:r>
              <a:t>└─ Displays unlocks to keep learners consistently motivated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822960"/>
          </a:xfrm>
          <a:prstGeom prst="rect">
            <a:avLst/>
          </a:prstGeom>
          <a:solidFill>
            <a:srgbClr val="0B0F19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D4AF37"/>
                </a:solidFill>
                <a:latin typeface="Helvetica"/>
              </a:defRPr>
            </a:pPr>
            <a:r>
              <a:t>HACKATHON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  <a:latin typeface="Helvetica"/>
              </a:defRPr>
            </a:pPr>
            <a:r>
              <a:t>Venture Roadmap &amp;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 b="1">
                <a:solidFill>
                  <a:srgbClr val="F3F4F6"/>
                </a:solidFill>
                <a:latin typeface="Helvetica"/>
              </a:defRPr>
            </a:pPr>
            <a:r>
              <a:t>Roadmap to Scale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Context AI Companion: An LLM integrated helper reading alongside to clarify complex concepts, summarize pages, and test comprehension.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Social Shared Library Rooms: Real-time collaborative book clubs syncing text guides, shared highlights, and margins feeds.</a:t>
            </a:r>
          </a:p>
          <a:p>
            <a:pPr>
              <a:spcAft>
                <a:spcPts val="2200"/>
              </a:spcAft>
              <a:defRPr sz="1400">
                <a:solidFill>
                  <a:srgbClr val="F3F4F6"/>
                </a:solidFill>
                <a:latin typeface="Helvetica"/>
              </a:defRPr>
            </a:pPr>
            <a:r>
              <a:t>Comprehension Testing: Micro-tests dynamically generated to evaluate active reading success rates.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155448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1463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0F2FE"/>
                </a:solidFill>
                <a:latin typeface="Helvetica"/>
              </a:defRPr>
            </a:pPr>
            <a:r>
              <a:t>PHASE 1</a:t>
            </a:r>
          </a:p>
          <a:p>
            <a:pPr>
              <a:spcAft>
                <a:spcPts val="1800"/>
              </a:spcAft>
              <a:defRPr sz="1500" b="1">
                <a:solidFill>
                  <a:srgbClr val="F3F4F6"/>
                </a:solidFill>
                <a:latin typeface="Helvetica"/>
              </a:defRPr>
            </a:pPr>
            <a:r>
              <a:t>Universal Web Clipper</a:t>
            </a:r>
          </a:p>
          <a:p>
            <a:pPr>
              <a:defRPr sz="1300">
                <a:solidFill>
                  <a:srgbClr val="F3F4F6"/>
                </a:solidFill>
                <a:latin typeface="Helvetica"/>
              </a:defRPr>
            </a:pPr>
            <a:r>
              <a:t>Bringing guided line pacing to any web article or page.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645920"/>
            <a:ext cx="155448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737360"/>
            <a:ext cx="1463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0F2FE"/>
                </a:solidFill>
                <a:latin typeface="Helvetica"/>
              </a:defRPr>
            </a:pPr>
            <a:r>
              <a:t>PHASE 2</a:t>
            </a:r>
          </a:p>
          <a:p>
            <a:pPr>
              <a:spcAft>
                <a:spcPts val="1800"/>
              </a:spcAft>
              <a:defRPr sz="1500" b="1">
                <a:solidFill>
                  <a:srgbClr val="F3F4F6"/>
                </a:solidFill>
                <a:latin typeface="Helvetica"/>
              </a:defRPr>
            </a:pPr>
            <a:r>
              <a:t>Personalized Audio</a:t>
            </a:r>
          </a:p>
          <a:p>
            <a:pPr>
              <a:defRPr sz="1300">
                <a:solidFill>
                  <a:srgbClr val="F3F4F6"/>
                </a:solidFill>
                <a:latin typeface="Helvetica"/>
              </a:defRPr>
            </a:pPr>
            <a:r>
              <a:t>Multi-speaker high-fidelity custom narrator voices.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1645920"/>
            <a:ext cx="1554480" cy="4389120"/>
          </a:xfrm>
          <a:prstGeom prst="rect">
            <a:avLst/>
          </a:prstGeom>
          <a:solidFill>
            <a:srgbClr val="0B0F19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1737360"/>
            <a:ext cx="1463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1600" b="1">
                <a:solidFill>
                  <a:srgbClr val="00F2FE"/>
                </a:solidFill>
                <a:latin typeface="Helvetica"/>
              </a:defRPr>
            </a:pPr>
            <a:r>
              <a:t>PHASE 3</a:t>
            </a:r>
          </a:p>
          <a:p>
            <a:pPr>
              <a:spcAft>
                <a:spcPts val="1800"/>
              </a:spcAft>
              <a:defRPr sz="1500" b="1">
                <a:solidFill>
                  <a:srgbClr val="F3F4F6"/>
                </a:solidFill>
                <a:latin typeface="Helvetica"/>
              </a:defRPr>
            </a:pPr>
            <a:r>
              <a:t>Institutional LMS</a:t>
            </a:r>
          </a:p>
          <a:p>
            <a:pPr>
              <a:defRPr sz="1300">
                <a:solidFill>
                  <a:srgbClr val="F3F4F6"/>
                </a:solidFill>
                <a:latin typeface="Helvetica"/>
              </a:defRPr>
            </a:pPr>
            <a:r>
              <a:t>B2B integration linking student progress to dashboards.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